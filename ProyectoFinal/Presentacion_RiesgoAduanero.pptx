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AD523E-7891-4466-AA3E-55DBC45976BD}" v="2" dt="2026-07-02T22:06:24.4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ALEGRIA" userId="bf1e4d09-eb54-4368-a504-8b0f6eb18ec5" providerId="ADAL" clId="{495D5D92-4036-444D-8D64-F3C75F155022}"/>
    <pc:docChg chg="undo custSel delSld modSld">
      <pc:chgData name="JUAN ALEGRIA" userId="bf1e4d09-eb54-4368-a504-8b0f6eb18ec5" providerId="ADAL" clId="{495D5D92-4036-444D-8D64-F3C75F155022}" dt="2026-07-02T23:37:25.802" v="992" actId="20577"/>
      <pc:docMkLst>
        <pc:docMk/>
      </pc:docMkLst>
      <pc:sldChg chg="modSp mod">
        <pc:chgData name="JUAN ALEGRIA" userId="bf1e4d09-eb54-4368-a504-8b0f6eb18ec5" providerId="ADAL" clId="{495D5D92-4036-444D-8D64-F3C75F155022}" dt="2026-07-02T23:30:00.806" v="956" actId="20577"/>
        <pc:sldMkLst>
          <pc:docMk/>
          <pc:sldMk cId="0" sldId="256"/>
        </pc:sldMkLst>
        <pc:spChg chg="mod">
          <ac:chgData name="JUAN ALEGRIA" userId="bf1e4d09-eb54-4368-a504-8b0f6eb18ec5" providerId="ADAL" clId="{495D5D92-4036-444D-8D64-F3C75F155022}" dt="2026-07-02T23:30:00.806" v="956" actId="20577"/>
          <ac:spMkLst>
            <pc:docMk/>
            <pc:sldMk cId="0" sldId="256"/>
            <ac:spMk id="9" creationId="{00000000-0000-0000-0000-000000000000}"/>
          </ac:spMkLst>
        </pc:spChg>
      </pc:sldChg>
      <pc:sldChg chg="delSp modSp mod">
        <pc:chgData name="JUAN ALEGRIA" userId="bf1e4d09-eb54-4368-a504-8b0f6eb18ec5" providerId="ADAL" clId="{495D5D92-4036-444D-8D64-F3C75F155022}" dt="2026-07-02T21:19:22.724" v="151" actId="1038"/>
        <pc:sldMkLst>
          <pc:docMk/>
          <pc:sldMk cId="0" sldId="258"/>
        </pc:sldMkLst>
        <pc:spChg chg="mod">
          <ac:chgData name="JUAN ALEGRIA" userId="bf1e4d09-eb54-4368-a504-8b0f6eb18ec5" providerId="ADAL" clId="{495D5D92-4036-444D-8D64-F3C75F155022}" dt="2026-07-02T21:18:43.959" v="88" actId="103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18:51.600" v="140" actId="103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18:43.959" v="88" actId="103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18:43.959" v="88" actId="103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19:22.724" v="151" actId="103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17:54.100" v="0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18:10.347" v="5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18:06.217" v="3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18:09.669" v="4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18:13.161" v="6" actId="478"/>
          <ac:spMkLst>
            <pc:docMk/>
            <pc:sldMk cId="0" sldId="258"/>
            <ac:spMk id="19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18:23.740" v="45" actId="103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18:23.740" v="45" actId="103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18:23.740" v="45" actId="103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18:23.740" v="45" actId="103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18:23.740" v="45" actId="1037"/>
          <ac:spMkLst>
            <pc:docMk/>
            <pc:sldMk cId="0" sldId="258"/>
            <ac:spMk id="24" creationId="{00000000-0000-0000-0000-000000000000}"/>
          </ac:spMkLst>
        </pc:spChg>
      </pc:sldChg>
      <pc:sldChg chg="delSp modSp mod">
        <pc:chgData name="JUAN ALEGRIA" userId="bf1e4d09-eb54-4368-a504-8b0f6eb18ec5" providerId="ADAL" clId="{495D5D92-4036-444D-8D64-F3C75F155022}" dt="2026-07-02T21:20:33.181" v="191" actId="1038"/>
        <pc:sldMkLst>
          <pc:docMk/>
          <pc:sldMk cId="0" sldId="259"/>
        </pc:sldMkLst>
        <pc:spChg chg="mod">
          <ac:chgData name="JUAN ALEGRIA" userId="bf1e4d09-eb54-4368-a504-8b0f6eb18ec5" providerId="ADAL" clId="{495D5D92-4036-444D-8D64-F3C75F155022}" dt="2026-07-02T21:19:59.354" v="154" actId="6549"/>
          <ac:spMkLst>
            <pc:docMk/>
            <pc:sldMk cId="0" sldId="259"/>
            <ac:spMk id="7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20:33.181" v="191" actId="1038"/>
          <ac:spMkLst>
            <pc:docMk/>
            <pc:sldMk cId="0" sldId="259"/>
            <ac:spMk id="11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20:33.181" v="191" actId="1038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20:33.181" v="191" actId="103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20:14.146" v="155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20:18.662" v="157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20:16.473" v="156" actId="478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JUAN ALEGRIA" userId="bf1e4d09-eb54-4368-a504-8b0f6eb18ec5" providerId="ADAL" clId="{495D5D92-4036-444D-8D64-F3C75F155022}" dt="2026-07-02T21:21:12.392" v="198" actId="6549"/>
        <pc:sldMkLst>
          <pc:docMk/>
          <pc:sldMk cId="0" sldId="260"/>
        </pc:sldMkLst>
        <pc:spChg chg="mod">
          <ac:chgData name="JUAN ALEGRIA" userId="bf1e4d09-eb54-4368-a504-8b0f6eb18ec5" providerId="ADAL" clId="{495D5D92-4036-444D-8D64-F3C75F155022}" dt="2026-07-02T21:20:48.929" v="197" actId="6549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21:12.392" v="198" actId="6549"/>
          <ac:spMkLst>
            <pc:docMk/>
            <pc:sldMk cId="0" sldId="260"/>
            <ac:spMk id="38" creationId="{00000000-0000-0000-0000-000000000000}"/>
          </ac:spMkLst>
        </pc:spChg>
      </pc:sldChg>
      <pc:sldChg chg="modSp mod">
        <pc:chgData name="JUAN ALEGRIA" userId="bf1e4d09-eb54-4368-a504-8b0f6eb18ec5" providerId="ADAL" clId="{495D5D92-4036-444D-8D64-F3C75F155022}" dt="2026-07-02T21:30:04.057" v="199" actId="6549"/>
        <pc:sldMkLst>
          <pc:docMk/>
          <pc:sldMk cId="0" sldId="261"/>
        </pc:sldMkLst>
        <pc:spChg chg="mod">
          <ac:chgData name="JUAN ALEGRIA" userId="bf1e4d09-eb54-4368-a504-8b0f6eb18ec5" providerId="ADAL" clId="{495D5D92-4036-444D-8D64-F3C75F155022}" dt="2026-07-02T21:30:04.057" v="199" actId="6549"/>
          <ac:spMkLst>
            <pc:docMk/>
            <pc:sldMk cId="0" sldId="261"/>
            <ac:spMk id="7" creationId="{00000000-0000-0000-0000-000000000000}"/>
          </ac:spMkLst>
        </pc:spChg>
      </pc:sldChg>
      <pc:sldChg chg="modSp mod">
        <pc:chgData name="JUAN ALEGRIA" userId="bf1e4d09-eb54-4368-a504-8b0f6eb18ec5" providerId="ADAL" clId="{495D5D92-4036-444D-8D64-F3C75F155022}" dt="2026-07-02T21:34:15.371" v="215" actId="20577"/>
        <pc:sldMkLst>
          <pc:docMk/>
          <pc:sldMk cId="0" sldId="262"/>
        </pc:sldMkLst>
        <pc:spChg chg="mod">
          <ac:chgData name="JUAN ALEGRIA" userId="bf1e4d09-eb54-4368-a504-8b0f6eb18ec5" providerId="ADAL" clId="{495D5D92-4036-444D-8D64-F3C75F155022}" dt="2026-07-02T21:33:55.737" v="214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34:15.371" v="215" actId="20577"/>
          <ac:spMkLst>
            <pc:docMk/>
            <pc:sldMk cId="0" sldId="262"/>
            <ac:spMk id="16" creationId="{00000000-0000-0000-0000-000000000000}"/>
          </ac:spMkLst>
        </pc:spChg>
      </pc:sldChg>
      <pc:sldChg chg="delSp modSp mod">
        <pc:chgData name="JUAN ALEGRIA" userId="bf1e4d09-eb54-4368-a504-8b0f6eb18ec5" providerId="ADAL" clId="{495D5D92-4036-444D-8D64-F3C75F155022}" dt="2026-07-02T21:39:34.970" v="313" actId="1037"/>
        <pc:sldMkLst>
          <pc:docMk/>
          <pc:sldMk cId="0" sldId="263"/>
        </pc:sldMkLst>
        <pc:spChg chg="del">
          <ac:chgData name="JUAN ALEGRIA" userId="bf1e4d09-eb54-4368-a504-8b0f6eb18ec5" providerId="ADAL" clId="{495D5D92-4036-444D-8D64-F3C75F155022}" dt="2026-07-02T21:38:43.788" v="216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38:47.984" v="218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38:46.268" v="217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38:52.587" v="222" actId="478"/>
          <ac:spMkLst>
            <pc:docMk/>
            <pc:sldMk cId="0" sldId="263"/>
            <ac:spMk id="12" creationId="{00000000-0000-0000-0000-000000000000}"/>
          </ac:spMkLst>
        </pc:spChg>
        <pc:spChg chg="del mod">
          <ac:chgData name="JUAN ALEGRIA" userId="bf1e4d09-eb54-4368-a504-8b0f6eb18ec5" providerId="ADAL" clId="{495D5D92-4036-444D-8D64-F3C75F155022}" dt="2026-07-02T21:38:51.882" v="221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38:54.423" v="223" actId="478"/>
          <ac:spMkLst>
            <pc:docMk/>
            <pc:sldMk cId="0" sldId="263"/>
            <ac:spMk id="14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39:12.385" v="262" actId="103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39:32.309" v="310" actId="1035"/>
          <ac:spMkLst>
            <pc:docMk/>
            <pc:sldMk cId="0" sldId="263"/>
            <ac:spMk id="16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39:12.385" v="262" actId="103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39:12.385" v="262" actId="10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1:39:34.970" v="313" actId="1037"/>
          <ac:spMkLst>
            <pc:docMk/>
            <pc:sldMk cId="0" sldId="263"/>
            <ac:spMk id="19" creationId="{00000000-0000-0000-0000-000000000000}"/>
          </ac:spMkLst>
        </pc:spChg>
      </pc:sldChg>
      <pc:sldChg chg="modSp mod">
        <pc:chgData name="JUAN ALEGRIA" userId="bf1e4d09-eb54-4368-a504-8b0f6eb18ec5" providerId="ADAL" clId="{495D5D92-4036-444D-8D64-F3C75F155022}" dt="2026-07-02T23:36:19.629" v="957" actId="6549"/>
        <pc:sldMkLst>
          <pc:docMk/>
          <pc:sldMk cId="0" sldId="264"/>
        </pc:sldMkLst>
        <pc:spChg chg="mod">
          <ac:chgData name="JUAN ALEGRIA" userId="bf1e4d09-eb54-4368-a504-8b0f6eb18ec5" providerId="ADAL" clId="{495D5D92-4036-444D-8D64-F3C75F155022}" dt="2026-07-02T23:36:19.629" v="957" actId="6549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JUAN ALEGRIA" userId="bf1e4d09-eb54-4368-a504-8b0f6eb18ec5" providerId="ADAL" clId="{495D5D92-4036-444D-8D64-F3C75F155022}" dt="2026-07-02T23:37:25.802" v="992" actId="20577"/>
        <pc:sldMkLst>
          <pc:docMk/>
          <pc:sldMk cId="0" sldId="265"/>
        </pc:sldMkLst>
        <pc:spChg chg="mod">
          <ac:chgData name="JUAN ALEGRIA" userId="bf1e4d09-eb54-4368-a504-8b0f6eb18ec5" providerId="ADAL" clId="{495D5D92-4036-444D-8D64-F3C75F155022}" dt="2026-07-02T23:37:25.802" v="992" actId="20577"/>
          <ac:spMkLst>
            <pc:docMk/>
            <pc:sldMk cId="0" sldId="265"/>
            <ac:spMk id="7" creationId="{00000000-0000-0000-0000-000000000000}"/>
          </ac:spMkLst>
        </pc:spChg>
      </pc:sldChg>
      <pc:sldChg chg="modSp mod">
        <pc:chgData name="JUAN ALEGRIA" userId="bf1e4d09-eb54-4368-a504-8b0f6eb18ec5" providerId="ADAL" clId="{495D5D92-4036-444D-8D64-F3C75F155022}" dt="2026-07-02T22:03:24.020" v="785" actId="6549"/>
        <pc:sldMkLst>
          <pc:docMk/>
          <pc:sldMk cId="0" sldId="266"/>
        </pc:sldMkLst>
        <pc:spChg chg="mod">
          <ac:chgData name="JUAN ALEGRIA" userId="bf1e4d09-eb54-4368-a504-8b0f6eb18ec5" providerId="ADAL" clId="{495D5D92-4036-444D-8D64-F3C75F155022}" dt="2026-07-02T22:03:24.020" v="785" actId="6549"/>
          <ac:spMkLst>
            <pc:docMk/>
            <pc:sldMk cId="0" sldId="266"/>
            <ac:spMk id="7" creationId="{00000000-0000-0000-0000-000000000000}"/>
          </ac:spMkLst>
        </pc:spChg>
      </pc:sldChg>
      <pc:sldChg chg="addSp delSp modSp mod">
        <pc:chgData name="JUAN ALEGRIA" userId="bf1e4d09-eb54-4368-a504-8b0f6eb18ec5" providerId="ADAL" clId="{495D5D92-4036-444D-8D64-F3C75F155022}" dt="2026-07-02T21:56:54.074" v="347" actId="20577"/>
        <pc:sldMkLst>
          <pc:docMk/>
          <pc:sldMk cId="0" sldId="267"/>
        </pc:sldMkLst>
        <pc:spChg chg="mod">
          <ac:chgData name="JUAN ALEGRIA" userId="bf1e4d09-eb54-4368-a504-8b0f6eb18ec5" providerId="ADAL" clId="{495D5D92-4036-444D-8D64-F3C75F155022}" dt="2026-07-02T21:56:54.074" v="347" actId="20577"/>
          <ac:spMkLst>
            <pc:docMk/>
            <pc:sldMk cId="0" sldId="267"/>
            <ac:spMk id="7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27.926" v="319" actId="478"/>
          <ac:spMkLst>
            <pc:docMk/>
            <pc:sldMk cId="0" sldId="267"/>
            <ac:spMk id="8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47.638" v="330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46.655" v="329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53.338" v="334" actId="478"/>
          <ac:spMkLst>
            <pc:docMk/>
            <pc:sldMk cId="0" sldId="267"/>
            <ac:spMk id="11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50.899" v="332" actId="478"/>
          <ac:spMkLst>
            <pc:docMk/>
            <pc:sldMk cId="0" sldId="267"/>
            <ac:spMk id="12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52.321" v="333" actId="478"/>
          <ac:spMkLst>
            <pc:docMk/>
            <pc:sldMk cId="0" sldId="267"/>
            <ac:spMk id="13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49.249" v="331" actId="478"/>
          <ac:spMkLst>
            <pc:docMk/>
            <pc:sldMk cId="0" sldId="267"/>
            <ac:spMk id="15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44.095" v="327" actId="478"/>
          <ac:spMkLst>
            <pc:docMk/>
            <pc:sldMk cId="0" sldId="267"/>
            <ac:spMk id="16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44.907" v="328" actId="478"/>
          <ac:spMkLst>
            <pc:docMk/>
            <pc:sldMk cId="0" sldId="267"/>
            <ac:spMk id="17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42.721" v="326" actId="478"/>
          <ac:spMkLst>
            <pc:docMk/>
            <pc:sldMk cId="0" sldId="267"/>
            <ac:spMk id="18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55.319" v="336" actId="478"/>
          <ac:spMkLst>
            <pc:docMk/>
            <pc:sldMk cId="0" sldId="267"/>
            <ac:spMk id="19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54.146" v="335" actId="478"/>
          <ac:spMkLst>
            <pc:docMk/>
            <pc:sldMk cId="0" sldId="267"/>
            <ac:spMk id="20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28.980" v="320" actId="478"/>
          <ac:spMkLst>
            <pc:docMk/>
            <pc:sldMk cId="0" sldId="267"/>
            <ac:spMk id="21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36.903" v="324" actId="478"/>
          <ac:spMkLst>
            <pc:docMk/>
            <pc:sldMk cId="0" sldId="267"/>
            <ac:spMk id="22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35.981" v="323" actId="478"/>
          <ac:spMkLst>
            <pc:docMk/>
            <pc:sldMk cId="0" sldId="267"/>
            <ac:spMk id="23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33.488" v="322" actId="478"/>
          <ac:spMkLst>
            <pc:docMk/>
            <pc:sldMk cId="0" sldId="267"/>
            <ac:spMk id="24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1:55:32.006" v="321" actId="478"/>
          <ac:spMkLst>
            <pc:docMk/>
            <pc:sldMk cId="0" sldId="267"/>
            <ac:spMk id="25" creationId="{00000000-0000-0000-0000-000000000000}"/>
          </ac:spMkLst>
        </pc:spChg>
        <pc:picChg chg="add mod">
          <ac:chgData name="JUAN ALEGRIA" userId="bf1e4d09-eb54-4368-a504-8b0f6eb18ec5" providerId="ADAL" clId="{495D5D92-4036-444D-8D64-F3C75F155022}" dt="2026-07-02T21:56:11.207" v="341" actId="1076"/>
          <ac:picMkLst>
            <pc:docMk/>
            <pc:sldMk cId="0" sldId="267"/>
            <ac:picMk id="29" creationId="{08331816-D606-6AF4-64B2-5720655A23F7}"/>
          </ac:picMkLst>
        </pc:picChg>
      </pc:sldChg>
      <pc:sldChg chg="modSp del mod">
        <pc:chgData name="JUAN ALEGRIA" userId="bf1e4d09-eb54-4368-a504-8b0f6eb18ec5" providerId="ADAL" clId="{495D5D92-4036-444D-8D64-F3C75F155022}" dt="2026-07-02T22:07:28.442" v="930" actId="2696"/>
        <pc:sldMkLst>
          <pc:docMk/>
          <pc:sldMk cId="0" sldId="268"/>
        </pc:sldMkLst>
        <pc:spChg chg="mod">
          <ac:chgData name="JUAN ALEGRIA" userId="bf1e4d09-eb54-4368-a504-8b0f6eb18ec5" providerId="ADAL" clId="{495D5D92-4036-444D-8D64-F3C75F155022}" dt="2026-07-02T21:57:59.770" v="386" actId="20577"/>
          <ac:spMkLst>
            <pc:docMk/>
            <pc:sldMk cId="0" sldId="268"/>
            <ac:spMk id="22" creationId="{00000000-0000-0000-0000-000000000000}"/>
          </ac:spMkLst>
        </pc:spChg>
      </pc:sldChg>
      <pc:sldChg chg="del">
        <pc:chgData name="JUAN ALEGRIA" userId="bf1e4d09-eb54-4368-a504-8b0f6eb18ec5" providerId="ADAL" clId="{495D5D92-4036-444D-8D64-F3C75F155022}" dt="2026-07-02T22:05:03.949" v="807" actId="2696"/>
        <pc:sldMkLst>
          <pc:docMk/>
          <pc:sldMk cId="0" sldId="269"/>
        </pc:sldMkLst>
      </pc:sldChg>
      <pc:sldChg chg="delSp modSp mod">
        <pc:chgData name="JUAN ALEGRIA" userId="bf1e4d09-eb54-4368-a504-8b0f6eb18ec5" providerId="ADAL" clId="{495D5D92-4036-444D-8D64-F3C75F155022}" dt="2026-07-02T22:07:05.676" v="929" actId="1076"/>
        <pc:sldMkLst>
          <pc:docMk/>
          <pc:sldMk cId="0" sldId="270"/>
        </pc:sldMkLst>
        <pc:spChg chg="mod">
          <ac:chgData name="JUAN ALEGRIA" userId="bf1e4d09-eb54-4368-a504-8b0f6eb18ec5" providerId="ADAL" clId="{495D5D92-4036-444D-8D64-F3C75F155022}" dt="2026-07-02T22:07:05.676" v="929" actId="1076"/>
          <ac:spMkLst>
            <pc:docMk/>
            <pc:sldMk cId="0" sldId="270"/>
            <ac:spMk id="2" creationId="{00000000-0000-0000-0000-000000000000}"/>
          </ac:spMkLst>
        </pc:spChg>
        <pc:spChg chg="del">
          <ac:chgData name="JUAN ALEGRIA" userId="bf1e4d09-eb54-4368-a504-8b0f6eb18ec5" providerId="ADAL" clId="{495D5D92-4036-444D-8D64-F3C75F155022}" dt="2026-07-02T22:06:58.450" v="903" actId="478"/>
          <ac:spMkLst>
            <pc:docMk/>
            <pc:sldMk cId="0" sldId="270"/>
            <ac:spMk id="6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2:07:03.805" v="928" actId="1035"/>
          <ac:spMkLst>
            <pc:docMk/>
            <pc:sldMk cId="0" sldId="270"/>
            <ac:spMk id="7" creationId="{00000000-0000-0000-0000-000000000000}"/>
          </ac:spMkLst>
        </pc:spChg>
        <pc:spChg chg="mod">
          <ac:chgData name="JUAN ALEGRIA" userId="bf1e4d09-eb54-4368-a504-8b0f6eb18ec5" providerId="ADAL" clId="{495D5D92-4036-444D-8D64-F3C75F155022}" dt="2026-07-02T22:07:03.805" v="928" actId="1035"/>
          <ac:spMkLst>
            <pc:docMk/>
            <pc:sldMk cId="0" sldId="270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4754880"/>
            <a:ext cx="12301423" cy="2194560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20040"/>
            <a:ext cx="5486400" cy="6217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15544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spc="300">
                <a:solidFill>
                  <a:srgbClr val="F2A63B"/>
                </a:solidFill>
                <a:latin typeface="Calibri"/>
              </a:rPr>
              <a:t>PROYECTO FINAL ·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60350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Detección de Riesgo
Aduanero con </a:t>
            </a:r>
            <a:r>
              <a:rPr sz="4600" b="1" i="0">
                <a:solidFill>
                  <a:srgbClr val="F2A63B"/>
                </a:solidFill>
                <a:latin typeface="Cambria"/>
              </a:rPr>
              <a:t>NLP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9FB6C9"/>
                </a:solidFill>
                <a:latin typeface="Calibri"/>
              </a:rPr>
              <a:t>Clasificación automática de la fracción arancelaria (HS) a partir de la descripción de la mercancía.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5440680"/>
            <a:ext cx="54864" cy="868680"/>
          </a:xfrm>
          <a:prstGeom prst="roundRect">
            <a:avLst>
              <a:gd name="adj" fmla="val 50000"/>
            </a:avLst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5486400" cy="855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 i="0" dirty="0" err="1">
                <a:solidFill>
                  <a:srgbClr val="FFFFFF"/>
                </a:solidFill>
                <a:latin typeface="Calibri"/>
              </a:rPr>
              <a:t>Procesamiento</a:t>
            </a:r>
            <a:r>
              <a:rPr sz="1450" b="1" i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450" b="1" i="0" dirty="0" err="1">
                <a:solidFill>
                  <a:srgbClr val="FFFFFF"/>
                </a:solidFill>
                <a:latin typeface="Calibri"/>
              </a:rPr>
              <a:t>Lenguaje</a:t>
            </a:r>
            <a:r>
              <a:rPr sz="1450" b="1" i="0" dirty="0">
                <a:solidFill>
                  <a:srgbClr val="FFFFFF"/>
                </a:solidFill>
                <a:latin typeface="Calibri"/>
              </a:rPr>
              <a:t> Natural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 i="0" dirty="0" err="1">
                <a:solidFill>
                  <a:srgbClr val="9FB6C9"/>
                </a:solidFill>
                <a:latin typeface="Calibri"/>
              </a:rPr>
              <a:t>Maestría</a:t>
            </a:r>
            <a:r>
              <a:rPr sz="1300" b="0" i="0" dirty="0">
                <a:solidFill>
                  <a:srgbClr val="9FB6C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FB6C9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9FB6C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FB6C9"/>
                </a:solidFill>
                <a:latin typeface="Calibri"/>
              </a:rPr>
              <a:t>Inteligencia</a:t>
            </a:r>
            <a:r>
              <a:rPr sz="1300" b="0" i="0" dirty="0">
                <a:solidFill>
                  <a:srgbClr val="9FB6C9"/>
                </a:solidFill>
                <a:latin typeface="Calibri"/>
              </a:rPr>
              <a:t> Artificial</a:t>
            </a:r>
            <a:r>
              <a:rPr lang="es-MX" sz="1300" b="0" i="0" dirty="0">
                <a:solidFill>
                  <a:srgbClr val="9FB6C9"/>
                </a:solidFill>
                <a:latin typeface="Calibri"/>
              </a:rPr>
              <a:t> - 2026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lang="es-MX" sz="1400" b="1" dirty="0">
                <a:solidFill>
                  <a:srgbClr val="FFFFFF"/>
                </a:solidFill>
              </a:rPr>
              <a:t>Profesor: Gaddiel </a:t>
            </a:r>
            <a:r>
              <a:rPr lang="es-MX" sz="1400" b="1" dirty="0" err="1">
                <a:solidFill>
                  <a:srgbClr val="FFFFFF"/>
                </a:solidFill>
              </a:rPr>
              <a:t>Desirena</a:t>
            </a:r>
            <a:r>
              <a:rPr lang="es-MX" sz="1400" b="1" dirty="0">
                <a:solidFill>
                  <a:srgbClr val="FFFFFF"/>
                </a:solidFill>
              </a:rPr>
              <a:t> López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5029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E8FA3"/>
                </a:solidFill>
                <a:latin typeface="Calibri"/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74980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2A45"/>
                </a:solidFill>
                <a:latin typeface="Cambria"/>
              </a:rPr>
              <a:t>Contexto y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6126480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50" b="1" i="0">
                <a:solidFill>
                  <a:srgbClr val="2E8FA3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7293B"/>
                </a:solidFill>
                <a:latin typeface="Calibri"/>
              </a:rPr>
              <a:t>Cada importación se declara con una fracción arancelaria (código HS) que determina impuestos y regulaciones.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50" b="1" i="0">
                <a:solidFill>
                  <a:srgbClr val="2E8FA3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7293B"/>
                </a:solidFill>
                <a:latin typeface="Calibri"/>
              </a:rPr>
              <a:t>La clasificación manual es lenta, requiere experiencia y es propensa a error.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50" b="1" i="0">
                <a:solidFill>
                  <a:srgbClr val="2E8FA3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7293B"/>
                </a:solidFill>
                <a:latin typeface="Calibri"/>
              </a:rPr>
              <a:t>Una fracción incorrecta deriva en multas, retrasos y, en casos dolosos, en subvaluación o fraude.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50" b="1" i="0">
                <a:solidFill>
                  <a:srgbClr val="2E8FA3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17293B"/>
                </a:solidFill>
                <a:latin typeface="Calibri"/>
              </a:rPr>
              <a:t>Existe un histórico de declaraciones con su descripción y fracción asignada.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874519"/>
            <a:ext cx="4069080" cy="3017520"/>
          </a:xfrm>
          <a:prstGeom prst="roundRect">
            <a:avLst>
              <a:gd name="adj" fmla="val 6000"/>
            </a:avLst>
          </a:prstGeom>
          <a:solidFill>
            <a:srgbClr val="0E2A45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680960" y="219456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21762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9718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2A63B"/>
                </a:solidFill>
                <a:latin typeface="Calibri"/>
              </a:rPr>
              <a:t>LA OPORTUNIDAD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291840"/>
            <a:ext cx="3474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Aprender de ese histórico para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sugerir la fracción automáticamente</a:t>
            </a:r>
            <a:r>
              <a:rPr sz="1700" b="0" i="0">
                <a:solidFill>
                  <a:srgbClr val="9FB6C9"/>
                </a:solidFill>
                <a:latin typeface="Calibri"/>
              </a:rPr>
              <a:t>, como apoyo al clasificador humano.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E7082"/>
                </a:solidFill>
                <a:latin typeface="Calibri"/>
              </a:rPr>
              <a:t>Detección de Riesgo Aduanero con 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F2A63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5029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E8FA3"/>
                </a:solidFill>
                <a:latin typeface="Calibri"/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74980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2A45"/>
                </a:solidFill>
                <a:latin typeface="Cambria"/>
              </a:rPr>
              <a:t>Objetivo del proyecto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744200" cy="16002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128016" cy="1600200"/>
          </a:xfrm>
          <a:prstGeom prst="roundRect">
            <a:avLst>
              <a:gd name="adj" fmla="val 25000"/>
            </a:avLst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 i="0">
                <a:solidFill>
                  <a:srgbClr val="17293B"/>
                </a:solidFill>
                <a:latin typeface="Calibri"/>
              </a:rPr>
              <a:t>Dada la descripción textual de una mercancía, </a:t>
            </a:r>
            <a:r>
              <a:rPr sz="1900" b="1" i="0">
                <a:solidFill>
                  <a:srgbClr val="1F6E80"/>
                </a:solidFill>
                <a:latin typeface="Calibri"/>
              </a:rPr>
              <a:t>predecir su subpartida arancelaria (HS, 6 dígitos)</a:t>
            </a:r>
            <a:r>
              <a:rPr sz="1900" b="0" i="0">
                <a:solidFill>
                  <a:srgbClr val="17293B"/>
                </a:solidFill>
                <a:latin typeface="Calibri"/>
              </a:rPr>
              <a:t> y entregar las opciones más probables como apoyo al clasificador humano.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1408" y="3794760"/>
            <a:ext cx="341071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CE6EE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41447" y="411480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E8FA3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41447" y="409651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7" y="4846320"/>
            <a:ext cx="27706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0E2A45"/>
                </a:solidFill>
                <a:latin typeface="Cambria"/>
              </a:rPr>
              <a:t>Enfoque de esta entrega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9424" y="5349240"/>
            <a:ext cx="3182112" cy="224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 dirty="0">
                <a:solidFill>
                  <a:srgbClr val="5E7082"/>
                </a:solidFill>
                <a:latin typeface="Calibri"/>
              </a:rPr>
              <a:t>El </a:t>
            </a:r>
            <a:r>
              <a:rPr sz="1350" b="0" i="0" dirty="0" err="1">
                <a:solidFill>
                  <a:srgbClr val="5E7082"/>
                </a:solidFill>
                <a:latin typeface="Calibri"/>
              </a:rPr>
              <a:t>componente</a:t>
            </a:r>
            <a:r>
              <a:rPr sz="1350" b="0" i="0" dirty="0">
                <a:solidFill>
                  <a:srgbClr val="5E7082"/>
                </a:solidFill>
                <a:latin typeface="Calibri"/>
              </a:rPr>
              <a:t> </a:t>
            </a:r>
            <a:r>
              <a:rPr lang="es-MX" sz="1350" b="0" i="0" dirty="0">
                <a:solidFill>
                  <a:srgbClr val="5E7082"/>
                </a:solidFill>
                <a:latin typeface="Calibri"/>
              </a:rPr>
              <a:t>N</a:t>
            </a:r>
            <a:r>
              <a:rPr sz="1350" b="0" i="0" dirty="0">
                <a:solidFill>
                  <a:srgbClr val="5E7082"/>
                </a:solidFill>
                <a:latin typeface="Calibri"/>
              </a:rPr>
              <a:t>LP: </a:t>
            </a:r>
            <a:r>
              <a:rPr sz="1350" b="0" i="0" dirty="0" err="1">
                <a:solidFill>
                  <a:srgbClr val="5E7082"/>
                </a:solidFill>
                <a:latin typeface="Calibri"/>
              </a:rPr>
              <a:t>descripción</a:t>
            </a:r>
            <a:r>
              <a:rPr sz="1350" b="0" i="0" dirty="0">
                <a:solidFill>
                  <a:srgbClr val="5E7082"/>
                </a:solidFill>
                <a:latin typeface="Calibri"/>
              </a:rPr>
              <a:t> → </a:t>
            </a:r>
            <a:r>
              <a:rPr sz="1350" b="0" i="0" dirty="0" err="1">
                <a:solidFill>
                  <a:srgbClr val="5E7082"/>
                </a:solidFill>
                <a:latin typeface="Calibri"/>
              </a:rPr>
              <a:t>fracción</a:t>
            </a:r>
            <a:r>
              <a:rPr sz="1350" b="0" i="0" dirty="0">
                <a:solidFill>
                  <a:srgbClr val="5E7082"/>
                </a:solidFill>
                <a:latin typeface="Calibri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93992" y="3794760"/>
            <a:ext cx="341071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CE6EE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14032" y="411480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D98A1E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14032" y="4186166"/>
            <a:ext cx="5486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MX" sz="2400" b="1" dirty="0">
                <a:solidFill>
                  <a:srgbClr val="FFFFFF"/>
                </a:solidFill>
                <a:latin typeface="Cambria"/>
              </a:rPr>
              <a:t>2</a:t>
            </a:r>
            <a:endParaRPr sz="2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14032" y="4846320"/>
            <a:ext cx="27706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0E2A45"/>
                </a:solidFill>
                <a:latin typeface="Cambria"/>
              </a:rPr>
              <a:t>Entregable operable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5349240"/>
            <a:ext cx="277063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 dirty="0" err="1">
                <a:solidFill>
                  <a:srgbClr val="5E7082"/>
                </a:solidFill>
                <a:latin typeface="Calibri"/>
              </a:rPr>
              <a:t>Sugerencia</a:t>
            </a:r>
            <a:r>
              <a:rPr sz="1350" b="0" i="0" dirty="0">
                <a:solidFill>
                  <a:srgbClr val="5E7082"/>
                </a:solidFill>
                <a:latin typeface="Calibri"/>
              </a:rPr>
              <a:t> + </a:t>
            </a:r>
            <a:r>
              <a:rPr sz="1350" b="0" i="0" dirty="0" err="1">
                <a:solidFill>
                  <a:srgbClr val="5E7082"/>
                </a:solidFill>
                <a:latin typeface="Calibri"/>
              </a:rPr>
              <a:t>nivel</a:t>
            </a:r>
            <a:r>
              <a:rPr sz="1350" b="0" i="0" dirty="0">
                <a:solidFill>
                  <a:srgbClr val="5E7082"/>
                </a:solidFill>
                <a:latin typeface="Calibri"/>
              </a:rPr>
              <a:t> de confianza + </a:t>
            </a:r>
            <a:r>
              <a:rPr sz="1350" b="0" i="0" dirty="0" err="1">
                <a:solidFill>
                  <a:srgbClr val="5E7082"/>
                </a:solidFill>
                <a:latin typeface="Calibri"/>
              </a:rPr>
              <a:t>motivos</a:t>
            </a:r>
            <a:r>
              <a:rPr sz="1350" b="0" i="0" dirty="0">
                <a:solidFill>
                  <a:srgbClr val="5E7082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5E7082"/>
                </a:solidFill>
                <a:latin typeface="Calibri"/>
              </a:rPr>
              <a:t>explicables</a:t>
            </a:r>
            <a:r>
              <a:rPr sz="1350" b="0" i="0" dirty="0">
                <a:solidFill>
                  <a:srgbClr val="5E7082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E7082"/>
                </a:solidFill>
                <a:latin typeface="Calibri"/>
              </a:rPr>
              <a:t>Detección de Riesgo Aduanero con NLP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F2A63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5029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E8FA3"/>
                </a:solidFill>
                <a:latin typeface="Calibri"/>
              </a:rPr>
              <a:t>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74980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2A45"/>
                </a:solidFill>
                <a:latin typeface="Cambria"/>
              </a:rPr>
              <a:t>Los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6126480" cy="1723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Fuente: base de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datos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SQL Server de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operaciones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de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importación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Consulta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parametrizada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(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impo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⋈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compmate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),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externalizada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en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configuración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Variable de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texto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descripción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de la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mercancía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Etiqueta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fracción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arancelaria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recortada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a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subpartida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HS (6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dígitos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783080"/>
            <a:ext cx="3977639" cy="1965960"/>
          </a:xfrm>
          <a:prstGeom prst="roundRect">
            <a:avLst>
              <a:gd name="adj" fmla="val 6000"/>
            </a:avLst>
          </a:prstGeom>
          <a:solidFill>
            <a:srgbClr val="0E2A45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80" y="1965960"/>
            <a:ext cx="3428999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 i="0">
                <a:solidFill>
                  <a:srgbClr val="F2A63B"/>
                </a:solidFill>
                <a:latin typeface="Cambria"/>
              </a:rPr>
              <a:t>153,708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3246120"/>
            <a:ext cx="342899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9FB6C9"/>
                </a:solidFill>
                <a:latin typeface="Calibri"/>
              </a:rPr>
              <a:t>registros de declaraciones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931920"/>
            <a:ext cx="1874519" cy="19659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CE6EE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0" y="4385547"/>
            <a:ext cx="1325879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1" i="0" dirty="0">
                <a:solidFill>
                  <a:srgbClr val="1F6E80"/>
                </a:solidFill>
                <a:latin typeface="Cambria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5394959"/>
            <a:ext cx="13258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5E7082"/>
                </a:solidFill>
                <a:latin typeface="Calibri"/>
              </a:rPr>
              <a:t>dígitos · nivel 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E7082"/>
                </a:solidFill>
                <a:latin typeface="Calibri"/>
              </a:rPr>
              <a:t>Detección de Riesgo Aduanero con NLP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F2A63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F2A63B"/>
                </a:solidFill>
                <a:latin typeface="Calibri"/>
              </a:rPr>
              <a:t>METODOLOGÍA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7498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Pipeline de NLP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1572768" cy="1691640"/>
          </a:xfrm>
          <a:prstGeom prst="roundRect">
            <a:avLst>
              <a:gd name="adj" fmla="val 10000"/>
            </a:avLst>
          </a:prstGeom>
          <a:solidFill>
            <a:srgbClr val="16395C"/>
          </a:solidFill>
          <a:ln w="15240">
            <a:solidFill>
              <a:srgbClr val="24486A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5528" y="2459736"/>
            <a:ext cx="384048" cy="384048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441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E2A45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33542"/>
            <a:ext cx="1572768" cy="4274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s-MX" sz="1350" b="1" i="0" dirty="0">
                <a:solidFill>
                  <a:srgbClr val="FFFFFF"/>
                </a:solidFill>
                <a:latin typeface="Calibri"/>
              </a:rPr>
              <a:t>Datos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
SQL</a:t>
            </a:r>
          </a:p>
        </p:txBody>
      </p:sp>
      <p:sp>
        <p:nvSpPr>
          <p:cNvPr id="11" name="Chevron 10"/>
          <p:cNvSpPr/>
          <p:nvPr/>
        </p:nvSpPr>
        <p:spPr>
          <a:xfrm>
            <a:off x="2308373" y="3031235"/>
            <a:ext cx="177086" cy="292608"/>
          </a:xfrm>
          <a:prstGeom prst="chevron">
            <a:avLst/>
          </a:prstGeom>
          <a:solidFill>
            <a:srgbClr val="5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35265" y="2331720"/>
            <a:ext cx="1572768" cy="1691640"/>
          </a:xfrm>
          <a:prstGeom prst="roundRect">
            <a:avLst>
              <a:gd name="adj" fmla="val 10000"/>
            </a:avLst>
          </a:prstGeom>
          <a:solidFill>
            <a:srgbClr val="16395C"/>
          </a:solidFill>
          <a:ln w="15240">
            <a:solidFill>
              <a:srgbClr val="24486A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44993" y="2459736"/>
            <a:ext cx="384048" cy="384048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44993" y="2441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E2A45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5265" y="2990087"/>
            <a:ext cx="157276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Limpieza +
Lematización</a:t>
            </a:r>
          </a:p>
        </p:txBody>
      </p:sp>
      <p:sp>
        <p:nvSpPr>
          <p:cNvPr id="16" name="Chevron 15"/>
          <p:cNvSpPr/>
          <p:nvPr/>
        </p:nvSpPr>
        <p:spPr>
          <a:xfrm>
            <a:off x="4157838" y="3031235"/>
            <a:ext cx="177086" cy="292608"/>
          </a:xfrm>
          <a:prstGeom prst="chevron">
            <a:avLst/>
          </a:prstGeom>
          <a:solidFill>
            <a:srgbClr val="5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84730" y="2331720"/>
            <a:ext cx="1572768" cy="1691640"/>
          </a:xfrm>
          <a:prstGeom prst="roundRect">
            <a:avLst>
              <a:gd name="adj" fmla="val 10000"/>
            </a:avLst>
          </a:prstGeom>
          <a:solidFill>
            <a:srgbClr val="16395C"/>
          </a:solidFill>
          <a:ln w="15240">
            <a:solidFill>
              <a:srgbClr val="24486A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94458" y="2459736"/>
            <a:ext cx="384048" cy="384048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94458" y="2441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E2A45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4730" y="2990087"/>
            <a:ext cx="157276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TF-IDF
(1–2 gramas)</a:t>
            </a:r>
          </a:p>
        </p:txBody>
      </p:sp>
      <p:sp>
        <p:nvSpPr>
          <p:cNvPr id="21" name="Chevron 20"/>
          <p:cNvSpPr/>
          <p:nvPr/>
        </p:nvSpPr>
        <p:spPr>
          <a:xfrm>
            <a:off x="6007304" y="3031235"/>
            <a:ext cx="177086" cy="292608"/>
          </a:xfrm>
          <a:prstGeom prst="chevron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34196" y="2331720"/>
            <a:ext cx="1572768" cy="1691640"/>
          </a:xfrm>
          <a:prstGeom prst="roundRect">
            <a:avLst>
              <a:gd name="adj" fmla="val 10000"/>
            </a:avLst>
          </a:prstGeom>
          <a:solidFill>
            <a:srgbClr val="F2A63B"/>
          </a:solidFill>
          <a:ln w="15240">
            <a:solidFill>
              <a:srgbClr val="F2A63B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43924" y="2459736"/>
            <a:ext cx="384048" cy="384048"/>
          </a:xfrm>
          <a:prstGeom prst="ellipse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3924" y="2441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2A63B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4196" y="2990087"/>
            <a:ext cx="157276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0E2A45"/>
                </a:solidFill>
                <a:latin typeface="Calibri"/>
              </a:rPr>
              <a:t>Regresión
Logística</a:t>
            </a:r>
          </a:p>
        </p:txBody>
      </p:sp>
      <p:sp>
        <p:nvSpPr>
          <p:cNvPr id="26" name="Chevron 25"/>
          <p:cNvSpPr/>
          <p:nvPr/>
        </p:nvSpPr>
        <p:spPr>
          <a:xfrm>
            <a:off x="7856769" y="3031235"/>
            <a:ext cx="177086" cy="292608"/>
          </a:xfrm>
          <a:prstGeom prst="chevron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83661" y="2331720"/>
            <a:ext cx="1572768" cy="1691640"/>
          </a:xfrm>
          <a:prstGeom prst="roundRect">
            <a:avLst>
              <a:gd name="adj" fmla="val 10000"/>
            </a:avLst>
          </a:prstGeom>
          <a:solidFill>
            <a:srgbClr val="16395C"/>
          </a:solidFill>
          <a:ln w="15240">
            <a:solidFill>
              <a:srgbClr val="24486A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193389" y="2459736"/>
            <a:ext cx="384048" cy="384048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93389" y="2441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E2A45"/>
                </a:solidFill>
                <a:latin typeface="Cambr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661" y="2990087"/>
            <a:ext cx="157276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Umbral de
confianza</a:t>
            </a:r>
          </a:p>
        </p:txBody>
      </p:sp>
      <p:sp>
        <p:nvSpPr>
          <p:cNvPr id="31" name="Chevron 30"/>
          <p:cNvSpPr/>
          <p:nvPr/>
        </p:nvSpPr>
        <p:spPr>
          <a:xfrm>
            <a:off x="9706235" y="3031235"/>
            <a:ext cx="177086" cy="292608"/>
          </a:xfrm>
          <a:prstGeom prst="chevron">
            <a:avLst/>
          </a:prstGeom>
          <a:solidFill>
            <a:srgbClr val="5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933127" y="2331720"/>
            <a:ext cx="1572768" cy="1691640"/>
          </a:xfrm>
          <a:prstGeom prst="roundRect">
            <a:avLst>
              <a:gd name="adj" fmla="val 10000"/>
            </a:avLst>
          </a:prstGeom>
          <a:solidFill>
            <a:srgbClr val="16395C"/>
          </a:solidFill>
          <a:ln w="15240">
            <a:solidFill>
              <a:srgbClr val="24486A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42855" y="2459736"/>
            <a:ext cx="384048" cy="384048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42855" y="2441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E2A45"/>
                </a:solidFill>
                <a:latin typeface="Cambr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3127" y="2990087"/>
            <a:ext cx="1572768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Motivos +
Demo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709160"/>
            <a:ext cx="10817352" cy="1417320"/>
          </a:xfrm>
          <a:prstGeom prst="roundRect">
            <a:avLst>
              <a:gd name="adj" fmla="val 5000"/>
            </a:avLst>
          </a:prstGeom>
          <a:solidFill>
            <a:srgbClr val="16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85800" y="4709160"/>
            <a:ext cx="128016" cy="1417320"/>
          </a:xfrm>
          <a:prstGeom prst="roundRect">
            <a:avLst>
              <a:gd name="adj" fmla="val 25000"/>
            </a:avLst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" y="5298205"/>
            <a:ext cx="10149840" cy="284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 dirty="0">
                <a:solidFill>
                  <a:srgbClr val="FFFFFF"/>
                </a:solidFill>
                <a:latin typeface="Calibri"/>
              </a:rPr>
              <a:t>Modelo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clásico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, interpretable y reproducible: </a:t>
            </a:r>
            <a:r>
              <a:rPr sz="1600" b="0" i="0" dirty="0" err="1">
                <a:solidFill>
                  <a:srgbClr val="9FB6C9"/>
                </a:solidFill>
                <a:latin typeface="Calibri"/>
              </a:rPr>
              <a:t>texto</a:t>
            </a:r>
            <a:r>
              <a:rPr sz="1600" b="0" i="0" dirty="0">
                <a:solidFill>
                  <a:srgbClr val="9FB6C9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9FB6C9"/>
                </a:solidFill>
                <a:latin typeface="Calibri"/>
              </a:rPr>
              <a:t>limpio</a:t>
            </a:r>
            <a:r>
              <a:rPr sz="1600" b="0" i="0" dirty="0">
                <a:solidFill>
                  <a:srgbClr val="9FB6C9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9FB6C9"/>
                </a:solidFill>
                <a:latin typeface="Calibri"/>
              </a:rPr>
              <a:t>vectorizado</a:t>
            </a:r>
            <a:r>
              <a:rPr sz="1600" b="0" i="0" dirty="0">
                <a:solidFill>
                  <a:srgbClr val="9FB6C9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9FB6C9"/>
                </a:solidFill>
                <a:latin typeface="Calibri"/>
              </a:rPr>
              <a:t>por</a:t>
            </a:r>
            <a:r>
              <a:rPr sz="1600" b="0" i="0" dirty="0">
                <a:solidFill>
                  <a:srgbClr val="9FB6C9"/>
                </a:solidFill>
                <a:latin typeface="Calibri"/>
              </a:rPr>
              <a:t> TF-IDF y </a:t>
            </a:r>
            <a:r>
              <a:rPr sz="1600" b="0" i="0" dirty="0" err="1">
                <a:solidFill>
                  <a:srgbClr val="9FB6C9"/>
                </a:solidFill>
                <a:latin typeface="Calibri"/>
              </a:rPr>
              <a:t>clasificado</a:t>
            </a:r>
            <a:r>
              <a:rPr sz="1600" b="0" i="0" dirty="0">
                <a:solidFill>
                  <a:srgbClr val="9FB6C9"/>
                </a:solidFill>
                <a:latin typeface="Calibri"/>
              </a:rPr>
              <a:t> con </a:t>
            </a:r>
            <a:r>
              <a:rPr sz="1600" b="0" i="0" dirty="0" err="1">
                <a:solidFill>
                  <a:srgbClr val="9FB6C9"/>
                </a:solidFill>
                <a:latin typeface="Calibri"/>
              </a:rPr>
              <a:t>Regresión</a:t>
            </a:r>
            <a:r>
              <a:rPr sz="1600" b="0" i="0" dirty="0">
                <a:solidFill>
                  <a:srgbClr val="9FB6C9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9FB6C9"/>
                </a:solidFill>
                <a:latin typeface="Calibri"/>
              </a:rPr>
              <a:t>Logística</a:t>
            </a:r>
            <a:r>
              <a:rPr sz="1600" b="0" i="0" dirty="0">
                <a:solidFill>
                  <a:srgbClr val="9FB6C9"/>
                </a:solidFill>
                <a:latin typeface="Calibri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9FB6C9"/>
                </a:solidFill>
                <a:latin typeface="Calibri"/>
              </a:rPr>
              <a:t>Detección de Riesgo Aduanero con NLP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865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F2A63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5029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E8FA3"/>
                </a:solidFill>
                <a:latin typeface="Calibri"/>
              </a:rPr>
              <a:t>PREPROCESAMIENTO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74980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2A45"/>
                </a:solidFill>
                <a:latin typeface="Cambria"/>
              </a:rPr>
              <a:t>Preprocesamiento del 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6035040" cy="1791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Clase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propia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NLPTextCleaningPipeline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(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español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).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Normalización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minúsculas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acentos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signos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y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números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Eliminación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de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stopwords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Lematización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: forma base de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cada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palabra.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Se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descartan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descripciones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que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quedan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vacías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783080"/>
            <a:ext cx="4114800" cy="416052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2011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2E8FA3"/>
                </a:solidFill>
                <a:latin typeface="Calibri"/>
              </a:rPr>
              <a:t>EJEMPLO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423160"/>
            <a:ext cx="3474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E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242316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5E7082"/>
                </a:solidFill>
                <a:latin typeface="Consolas"/>
              </a:rPr>
              <a:t>TABLERO DE INSTRUMENTOS
PARA USO AUTOMOTRIZ</a:t>
            </a:r>
          </a:p>
        </p:txBody>
      </p:sp>
      <p:sp>
        <p:nvSpPr>
          <p:cNvPr id="12" name="Chevron 11"/>
          <p:cNvSpPr/>
          <p:nvPr/>
        </p:nvSpPr>
        <p:spPr>
          <a:xfrm>
            <a:off x="9098280" y="3675887"/>
            <a:ext cx="548640" cy="384048"/>
          </a:xfrm>
          <a:prstGeom prst="chevron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368503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1">
                <a:solidFill>
                  <a:srgbClr val="F2A63B"/>
                </a:solidFill>
                <a:latin typeface="Calibri"/>
              </a:rPr>
              <a:t>limpieza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297680"/>
            <a:ext cx="3474720" cy="1097280"/>
          </a:xfrm>
          <a:prstGeom prst="roundRect">
            <a:avLst>
              <a:gd name="adj" fmla="val 8000"/>
            </a:avLst>
          </a:prstGeom>
          <a:solidFill>
            <a:srgbClr val="0E2A45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429768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5FB4C4"/>
                </a:solidFill>
                <a:latin typeface="Consolas"/>
              </a:rPr>
              <a:t>tablero instrumentos
uso automotriz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E7082"/>
                </a:solidFill>
                <a:latin typeface="Calibri"/>
              </a:rPr>
              <a:t>Detección de Riesgo Aduanero con NLP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F2A63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5029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E8FA3"/>
                </a:solidFill>
                <a:latin typeface="Calibri"/>
              </a:rPr>
              <a:t>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74980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2A45"/>
                </a:solidFill>
                <a:latin typeface="Cambria"/>
              </a:rPr>
              <a:t>El modelo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5285232" cy="11704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9264" y="2103120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210312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E80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011680"/>
            <a:ext cx="4050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2A45"/>
                </a:solidFill>
                <a:latin typeface="Cambria"/>
              </a:rPr>
              <a:t>Vectorización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359152"/>
            <a:ext cx="4050791" cy="198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 dirty="0">
                <a:solidFill>
                  <a:srgbClr val="5E7082"/>
                </a:solidFill>
                <a:latin typeface="Calibri"/>
              </a:rPr>
              <a:t>TF-IDF: </a:t>
            </a:r>
            <a:r>
              <a:rPr sz="1250" b="0" i="0" dirty="0" err="1">
                <a:solidFill>
                  <a:srgbClr val="5E7082"/>
                </a:solidFill>
                <a:latin typeface="Calibri"/>
              </a:rPr>
              <a:t>unigramas</a:t>
            </a:r>
            <a:r>
              <a:rPr sz="1250" b="0" i="0" dirty="0">
                <a:solidFill>
                  <a:srgbClr val="5E7082"/>
                </a:solidFill>
                <a:latin typeface="Calibri"/>
              </a:rPr>
              <a:t> + </a:t>
            </a:r>
            <a:r>
              <a:rPr sz="1250" b="0" i="0" dirty="0" err="1">
                <a:solidFill>
                  <a:srgbClr val="5E7082"/>
                </a:solidFill>
                <a:latin typeface="Calibri"/>
              </a:rPr>
              <a:t>bigramas</a:t>
            </a:r>
            <a:r>
              <a:rPr sz="1250" b="0" i="0" dirty="0">
                <a:solidFill>
                  <a:srgbClr val="5E7082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5E7082"/>
                </a:solidFill>
                <a:latin typeface="Calibri"/>
              </a:rPr>
              <a:t>min_df</a:t>
            </a:r>
            <a:r>
              <a:rPr sz="1250" b="0" i="0" dirty="0">
                <a:solidFill>
                  <a:srgbClr val="5E7082"/>
                </a:solidFill>
                <a:latin typeface="Calibri"/>
              </a:rPr>
              <a:t>=3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828800"/>
            <a:ext cx="5285232" cy="11704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10528" y="2103120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2103120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E80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6056" y="2011680"/>
            <a:ext cx="4050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2A45"/>
                </a:solidFill>
                <a:latin typeface="Cambria"/>
              </a:rPr>
              <a:t>Clasificador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6056" y="2359152"/>
            <a:ext cx="4050791" cy="198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 dirty="0" err="1">
                <a:solidFill>
                  <a:srgbClr val="5E7082"/>
                </a:solidFill>
                <a:latin typeface="Calibri"/>
              </a:rPr>
              <a:t>Regresión</a:t>
            </a:r>
            <a:r>
              <a:rPr sz="1250" b="0" i="0" dirty="0">
                <a:solidFill>
                  <a:srgbClr val="5E7082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5E7082"/>
                </a:solidFill>
                <a:latin typeface="Calibri"/>
              </a:rPr>
              <a:t>Logística</a:t>
            </a:r>
            <a:r>
              <a:rPr sz="1250" b="0" i="0" dirty="0">
                <a:solidFill>
                  <a:srgbClr val="5E7082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218688"/>
            <a:ext cx="5285232" cy="11704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9264" y="349300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349300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E80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4792" y="3401568"/>
            <a:ext cx="4050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2A45"/>
                </a:solidFill>
                <a:latin typeface="Cambria"/>
              </a:rPr>
              <a:t>Desbalance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49039"/>
            <a:ext cx="40507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E7082"/>
                </a:solidFill>
                <a:latin typeface="Calibri"/>
              </a:rPr>
              <a:t>class_weight='balanced' compensa fracciones con pocos ejemplos.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3218688"/>
            <a:ext cx="5285232" cy="11704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10528" y="3493008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349300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E80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6056" y="3401568"/>
            <a:ext cx="4050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2A45"/>
                </a:solidFill>
                <a:latin typeface="Cambria"/>
              </a:rPr>
              <a:t>Etiqueta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6056" y="3749039"/>
            <a:ext cx="40507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E7082"/>
                </a:solidFill>
                <a:latin typeface="Calibri"/>
              </a:rPr>
              <a:t>6 dígitos (subpartida HS); configurable a 8/10 dígitos.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608576"/>
            <a:ext cx="5285232" cy="11704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9264" y="4882896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" y="4882896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E80"/>
                </a:solidFill>
                <a:latin typeface="Cambr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4791456"/>
            <a:ext cx="4050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2A45"/>
                </a:solidFill>
                <a:latin typeface="Cambria"/>
              </a:rPr>
              <a:t>Filtrado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138928"/>
            <a:ext cx="40507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E7082"/>
                </a:solidFill>
                <a:latin typeface="Calibri"/>
              </a:rPr>
              <a:t>Se excluyen clases con &lt; 5 ejemplos (no se pueden aprender).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4496" y="4608576"/>
            <a:ext cx="5285232" cy="1170432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510528" y="4882896"/>
            <a:ext cx="603504" cy="6035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4882896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6E80"/>
                </a:solidFill>
                <a:latin typeface="Cambr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06056" y="4791456"/>
            <a:ext cx="405079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2A45"/>
                </a:solidFill>
                <a:latin typeface="Cambria"/>
              </a:rPr>
              <a:t>Validación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6056" y="5138928"/>
            <a:ext cx="40507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E7082"/>
                </a:solidFill>
                <a:latin typeface="Calibri"/>
              </a:rPr>
              <a:t>Split train/test estratificado 70/30 que conserva proporciones.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dirty="0" err="1">
                <a:solidFill>
                  <a:srgbClr val="5E7082"/>
                </a:solidFill>
                <a:latin typeface="Calibri"/>
              </a:rPr>
              <a:t>Detección</a:t>
            </a:r>
            <a:r>
              <a:rPr sz="950" b="0" i="0" dirty="0">
                <a:solidFill>
                  <a:srgbClr val="5E7082"/>
                </a:solidFill>
                <a:latin typeface="Calibri"/>
              </a:rPr>
              <a:t> de Riesgo </a:t>
            </a:r>
            <a:r>
              <a:rPr sz="950" b="0" i="0" dirty="0" err="1">
                <a:solidFill>
                  <a:srgbClr val="5E7082"/>
                </a:solidFill>
                <a:latin typeface="Calibri"/>
              </a:rPr>
              <a:t>Aduanero</a:t>
            </a:r>
            <a:r>
              <a:rPr sz="950" b="0" i="0" dirty="0">
                <a:solidFill>
                  <a:srgbClr val="5E7082"/>
                </a:solidFill>
                <a:latin typeface="Calibri"/>
              </a:rPr>
              <a:t> con NLP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F2A63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5029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E8FA3"/>
                </a:solidFill>
                <a:latin typeface="Calibri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74980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2A45"/>
                </a:solidFill>
                <a:latin typeface="Cambria"/>
              </a:rPr>
              <a:t>Resultados (conjunto de prueba)</a:t>
            </a:r>
          </a:p>
        </p:txBody>
      </p:sp>
      <p:pic>
        <p:nvPicPr>
          <p:cNvPr id="7" name="Picture 6" descr="chart_to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6035040" cy="3068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074920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5E7082"/>
                </a:solidFill>
                <a:latin typeface="Calibri"/>
              </a:rPr>
              <a:t>Accuracy por número de sugerencias mostradas al clasificador.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249424"/>
            <a:ext cx="4343400" cy="2377440"/>
          </a:xfrm>
          <a:prstGeom prst="roundRect">
            <a:avLst>
              <a:gd name="adj" fmla="val 5000"/>
            </a:avLst>
          </a:prstGeom>
          <a:solidFill>
            <a:srgbClr val="0E2A45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06640" y="259689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255117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mbria"/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615184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2A63B"/>
                </a:solidFill>
                <a:latin typeface="Calibri"/>
              </a:rPr>
              <a:t>MÉTRICA CLAVE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3300984"/>
            <a:ext cx="3703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FFFFFF"/>
                </a:solidFill>
                <a:latin typeface="Calibri"/>
              </a:rPr>
              <a:t>El </a:t>
            </a:r>
            <a:r>
              <a:rPr sz="1550" b="1" i="0">
                <a:solidFill>
                  <a:srgbClr val="F2A63B"/>
                </a:solidFill>
                <a:latin typeface="Calibri"/>
              </a:rPr>
              <a:t>top-3 de 96.3%</a:t>
            </a:r>
            <a:r>
              <a:rPr sz="1550" b="0" i="0">
                <a:solidFill>
                  <a:srgbClr val="9FB6C9"/>
                </a:solidFill>
                <a:latin typeface="Calibri"/>
              </a:rPr>
              <a:t> es el objetivo del caso de uso: como apoyo, la fracción correcta casi siempre está entre las 3 sugeridas.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E7082"/>
                </a:solidFill>
                <a:latin typeface="Calibri"/>
              </a:rPr>
              <a:t>Detección de Riesgo Aduanero con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F2A63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5029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E8FA3"/>
                </a:solidFill>
                <a:latin typeface="Calibri"/>
              </a:rPr>
              <a:t>ANÁLISIS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74980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2A45"/>
                </a:solidFill>
                <a:latin typeface="Cambria"/>
              </a:rPr>
              <a:t>Análisis del desempeño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6126480" cy="1460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Muy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sólido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en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subpartidas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frecuentes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Las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clases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difíciles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son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descripciones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genéricas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Causa: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texto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no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aporta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señal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suficiente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para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distinguirlas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  <a:p>
            <a:pPr algn="l">
              <a:lnSpc>
                <a:spcPct val="114000"/>
              </a:lnSpc>
              <a:spcAft>
                <a:spcPts val="11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Implicación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: </a:t>
            </a:r>
            <a:r>
              <a:rPr lang="es-MX" sz="1500" b="0" i="0" dirty="0">
                <a:solidFill>
                  <a:srgbClr val="17293B"/>
                </a:solidFill>
                <a:latin typeface="Calibri"/>
              </a:rPr>
              <a:t>Esos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casos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lang="es-MX" sz="1500" b="0" i="0" dirty="0">
                <a:solidFill>
                  <a:srgbClr val="17293B"/>
                </a:solidFill>
                <a:latin typeface="Calibri"/>
              </a:rPr>
              <a:t>se escalan 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a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revisión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humana.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783080"/>
            <a:ext cx="4114800" cy="3977639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2011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E1A23A"/>
                </a:solidFill>
                <a:latin typeface="Calibri"/>
              </a:rPr>
              <a:t>CLASES DIFÍCILES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46888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E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267004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E2A45"/>
                </a:solidFill>
                <a:latin typeface="Consolas"/>
              </a:rPr>
              <a:t>392690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1272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E7082"/>
                </a:solidFill>
                <a:latin typeface="Calibri"/>
              </a:rPr>
              <a:t>«artículos de plástico»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456432"/>
            <a:ext cx="1508760" cy="320040"/>
          </a:xfrm>
          <a:prstGeom prst="roundRect">
            <a:avLst>
              <a:gd name="adj" fmla="val 40000"/>
            </a:avLst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3456432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>
                <a:solidFill>
                  <a:srgbClr val="5E7082"/>
                </a:solidFill>
                <a:latin typeface="Calibri"/>
              </a:rPr>
              <a:t>recall </a:t>
            </a:r>
            <a:r>
              <a:rPr sz="1150" b="1" i="0">
                <a:solidFill>
                  <a:srgbClr val="E1A23A"/>
                </a:solidFill>
                <a:latin typeface="Calibri"/>
              </a:rPr>
              <a:t>0.35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069080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E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427024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E2A45"/>
                </a:solidFill>
                <a:latin typeface="Consolas"/>
              </a:rPr>
              <a:t>732690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7274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E7082"/>
                </a:solidFill>
                <a:latin typeface="Calibri"/>
              </a:rPr>
              <a:t>«artículos de acero»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5056632"/>
            <a:ext cx="1508760" cy="320040"/>
          </a:xfrm>
          <a:prstGeom prst="roundRect">
            <a:avLst>
              <a:gd name="adj" fmla="val 40000"/>
            </a:avLst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5056632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>
                <a:solidFill>
                  <a:srgbClr val="5E7082"/>
                </a:solidFill>
                <a:latin typeface="Calibri"/>
              </a:rPr>
              <a:t>precisión </a:t>
            </a:r>
            <a:r>
              <a:rPr sz="1150" b="1" i="0">
                <a:solidFill>
                  <a:srgbClr val="E1A23A"/>
                </a:solidFill>
                <a:latin typeface="Calibri"/>
              </a:rPr>
              <a:t>0.34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E7082"/>
                </a:solidFill>
                <a:latin typeface="Calibri"/>
              </a:rPr>
              <a:t>Detección de Riesgo Aduanero con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F2A63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5029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E8FA3"/>
                </a:solidFill>
                <a:latin typeface="Calibri"/>
              </a:rPr>
              <a:t>OPERACIÓN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74980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2A45"/>
                </a:solidFill>
                <a:latin typeface="Cambria"/>
              </a:rPr>
              <a:t>Umbral de confianza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5120640" cy="1362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12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Se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usa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la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probabilidad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del top-1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como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nivel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de confianza.</a:t>
            </a:r>
          </a:p>
          <a:p>
            <a:pPr algn="l">
              <a:lnSpc>
                <a:spcPct val="116000"/>
              </a:lnSpc>
              <a:spcAft>
                <a:spcPts val="12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El umbral se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elige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para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garantizar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una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precisión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objetivo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(p.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ej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 98%)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en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lo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automático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  <a:p>
            <a:pPr algn="l">
              <a:lnSpc>
                <a:spcPct val="116000"/>
              </a:lnSpc>
              <a:spcAft>
                <a:spcPts val="12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lang="es-MX" sz="1500" b="0" i="0" dirty="0">
                <a:solidFill>
                  <a:srgbClr val="17293B"/>
                </a:solidFill>
                <a:latin typeface="Calibri"/>
              </a:rPr>
              <a:t>Se </a:t>
            </a:r>
            <a:r>
              <a:rPr lang="es-MX" sz="1500" b="0" i="0" dirty="0" err="1">
                <a:solidFill>
                  <a:srgbClr val="17293B"/>
                </a:solidFill>
                <a:latin typeface="Calibri"/>
              </a:rPr>
              <a:t>envia</a:t>
            </a:r>
            <a:r>
              <a:rPr lang="es-MX" sz="1500" b="0" i="0" dirty="0">
                <a:solidFill>
                  <a:srgbClr val="17293B"/>
                </a:solidFill>
                <a:latin typeface="Calibri"/>
              </a:rPr>
              <a:t> a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revisión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solo </a:t>
            </a:r>
            <a:r>
              <a:rPr lang="es-MX" sz="1500" dirty="0">
                <a:solidFill>
                  <a:srgbClr val="17293B"/>
                </a:solidFill>
                <a:latin typeface="Calibri"/>
              </a:rPr>
              <a:t>por debajo del umbral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160520"/>
            <a:ext cx="5120640" cy="12344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C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4160520"/>
            <a:ext cx="118872" cy="123444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4370832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 dirty="0" err="1">
                <a:solidFill>
                  <a:srgbClr val="1F6E80"/>
                </a:solidFill>
                <a:latin typeface="Calibri"/>
              </a:rPr>
              <a:t>Resultado</a:t>
            </a:r>
            <a:r>
              <a:rPr sz="1450" b="1" i="0" dirty="0">
                <a:solidFill>
                  <a:srgbClr val="1F6E80"/>
                </a:solidFill>
                <a:latin typeface="Calibri"/>
              </a:rPr>
              <a:t>:  </a:t>
            </a:r>
            <a:r>
              <a:rPr sz="1450" b="0" i="0" dirty="0" err="1">
                <a:solidFill>
                  <a:srgbClr val="17293B"/>
                </a:solidFill>
                <a:latin typeface="Calibri"/>
              </a:rPr>
              <a:t>alta</a:t>
            </a:r>
            <a:r>
              <a:rPr sz="145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7293B"/>
                </a:solidFill>
                <a:latin typeface="Calibri"/>
              </a:rPr>
              <a:t>cobertura</a:t>
            </a:r>
            <a:r>
              <a:rPr sz="145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7293B"/>
                </a:solidFill>
                <a:latin typeface="Calibri"/>
              </a:rPr>
              <a:t>automática</a:t>
            </a:r>
            <a:r>
              <a:rPr sz="1450" b="0" i="0" dirty="0">
                <a:solidFill>
                  <a:srgbClr val="17293B"/>
                </a:solidFill>
                <a:latin typeface="Calibri"/>
              </a:rPr>
              <a:t> con la </a:t>
            </a:r>
            <a:r>
              <a:rPr sz="1450" b="0" i="0" dirty="0" err="1">
                <a:solidFill>
                  <a:srgbClr val="17293B"/>
                </a:solidFill>
                <a:latin typeface="Calibri"/>
              </a:rPr>
              <a:t>precisión</a:t>
            </a:r>
            <a:r>
              <a:rPr sz="145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7293B"/>
                </a:solidFill>
                <a:latin typeface="Calibri"/>
              </a:rPr>
              <a:t>garantizada</a:t>
            </a:r>
            <a:r>
              <a:rPr sz="1450" b="0" i="0" dirty="0">
                <a:solidFill>
                  <a:srgbClr val="17293B"/>
                </a:solidFill>
                <a:latin typeface="Calibri"/>
              </a:rPr>
              <a:t>; solo lo </a:t>
            </a:r>
            <a:r>
              <a:rPr sz="1450" b="0" i="0" dirty="0" err="1">
                <a:solidFill>
                  <a:srgbClr val="17293B"/>
                </a:solidFill>
                <a:latin typeface="Calibri"/>
              </a:rPr>
              <a:t>dudoso</a:t>
            </a:r>
            <a:r>
              <a:rPr sz="145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450" b="0" i="0" dirty="0" err="1">
                <a:solidFill>
                  <a:srgbClr val="17293B"/>
                </a:solidFill>
                <a:latin typeface="Calibri"/>
              </a:rPr>
              <a:t>llega</a:t>
            </a:r>
            <a:r>
              <a:rPr sz="1450" b="0" i="0" dirty="0">
                <a:solidFill>
                  <a:srgbClr val="17293B"/>
                </a:solidFill>
                <a:latin typeface="Calibri"/>
              </a:rPr>
              <a:t> a un </a:t>
            </a:r>
            <a:r>
              <a:rPr sz="1450" b="0" i="0" dirty="0" err="1">
                <a:solidFill>
                  <a:srgbClr val="17293B"/>
                </a:solidFill>
                <a:latin typeface="Calibri"/>
              </a:rPr>
              <a:t>humano</a:t>
            </a:r>
            <a:r>
              <a:rPr sz="1450" b="0" i="0" dirty="0">
                <a:solidFill>
                  <a:srgbClr val="17293B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737360"/>
            <a:ext cx="2560320" cy="731520"/>
          </a:xfrm>
          <a:prstGeom prst="roundRect">
            <a:avLst>
              <a:gd name="adj" fmla="val 14000"/>
            </a:avLst>
          </a:prstGeom>
          <a:solidFill>
            <a:srgbClr val="0E2A45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73736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Probabilidad top-1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87968" y="2468880"/>
            <a:ext cx="54864" cy="320040"/>
          </a:xfrm>
          <a:prstGeom prst="rect">
            <a:avLst/>
          </a:prstGeom>
          <a:solidFill>
            <a:srgbClr val="5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138160" y="2788920"/>
            <a:ext cx="1554480" cy="914400"/>
          </a:xfrm>
          <a:prstGeom prst="ellipse">
            <a:avLst/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2770632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0E2A45"/>
                </a:solidFill>
                <a:latin typeface="Cambria"/>
              </a:rPr>
              <a:t>≥ umbral 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3703320"/>
            <a:ext cx="54864" cy="292608"/>
          </a:xfrm>
          <a:prstGeom prst="rect">
            <a:avLst/>
          </a:prstGeom>
          <a:solidFill>
            <a:srgbClr val="5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59168" y="3977639"/>
            <a:ext cx="3712463" cy="54864"/>
          </a:xfrm>
          <a:prstGeom prst="rect">
            <a:avLst/>
          </a:prstGeom>
          <a:solidFill>
            <a:srgbClr val="5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59168" y="3977639"/>
            <a:ext cx="54864" cy="411480"/>
          </a:xfrm>
          <a:prstGeom prst="rect">
            <a:avLst/>
          </a:prstGeom>
          <a:solidFill>
            <a:srgbClr val="27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716768" y="3977639"/>
            <a:ext cx="54864" cy="411480"/>
          </a:xfrm>
          <a:prstGeom prst="rect">
            <a:avLst/>
          </a:prstGeom>
          <a:solidFill>
            <a:srgbClr val="E1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20740" y="443484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27A567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75704" y="4636007"/>
            <a:ext cx="621792" cy="621792"/>
          </a:xfrm>
          <a:prstGeom prst="ellipse">
            <a:avLst/>
          </a:prstGeom>
          <a:solidFill>
            <a:srgbClr val="27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75704" y="461772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0740" y="5330952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 i="0">
                <a:solidFill>
                  <a:srgbClr val="0E2A45"/>
                </a:solidFill>
                <a:latin typeface="Cambria"/>
              </a:rPr>
              <a:t>AUTO-SUGERIDA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0740" y="560527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E7082"/>
                </a:solidFill>
                <a:latin typeface="Calibri"/>
              </a:rPr>
              <a:t>confianza ≥ umbral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78340" y="443484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E1A23A"/>
            </a:solidFill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33304" y="4636007"/>
            <a:ext cx="621792" cy="621792"/>
          </a:xfrm>
          <a:prstGeom prst="ellipse">
            <a:avLst/>
          </a:prstGeom>
          <a:solidFill>
            <a:srgbClr val="E1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33304" y="461772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8340" y="5330952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 i="0">
                <a:solidFill>
                  <a:srgbClr val="0E2A45"/>
                </a:solidFill>
                <a:latin typeface="Cambria"/>
              </a:rPr>
              <a:t>REVISIÓN HUMANA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8340" y="560527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E7082"/>
                </a:solidFill>
                <a:latin typeface="Calibri"/>
              </a:rPr>
              <a:t>confianza &lt; umbral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33872" y="4059936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27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33872" y="4050791"/>
            <a:ext cx="7680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28832" y="4059936"/>
            <a:ext cx="768096" cy="310896"/>
          </a:xfrm>
          <a:prstGeom prst="roundRect">
            <a:avLst>
              <a:gd name="adj" fmla="val 50000"/>
            </a:avLst>
          </a:prstGeom>
          <a:solidFill>
            <a:srgbClr val="E1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228832" y="4050791"/>
            <a:ext cx="7680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E7082"/>
                </a:solidFill>
                <a:latin typeface="Calibri"/>
              </a:rPr>
              <a:t>Detección de Riesgo Aduanero con NLP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F2A63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5029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E8FA3"/>
                </a:solidFill>
                <a:latin typeface="Calibri"/>
              </a:rPr>
              <a:t>INTERPRETABILIDAD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74980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2A45"/>
                </a:solidFill>
                <a:latin typeface="Cambria"/>
              </a:rPr>
              <a:t>Interpretabilidad: motivos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5943600" cy="1256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1300"/>
              </a:spcAft>
            </a:pPr>
            <a:r>
              <a:rPr sz="155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50" b="0" i="0" dirty="0">
                <a:solidFill>
                  <a:srgbClr val="17293B"/>
                </a:solidFill>
                <a:latin typeface="Calibri"/>
              </a:rPr>
              <a:t>C</a:t>
            </a:r>
            <a:r>
              <a:rPr lang="es-MX" sz="1550" b="0" i="0" dirty="0">
                <a:solidFill>
                  <a:srgbClr val="17293B"/>
                </a:solidFill>
                <a:latin typeface="Calibri"/>
              </a:rPr>
              <a:t>las fracciones arancelarias s</a:t>
            </a:r>
            <a:r>
              <a:rPr sz="1550" b="0" i="0" dirty="0" err="1">
                <a:solidFill>
                  <a:srgbClr val="17293B"/>
                </a:solidFill>
                <a:latin typeface="Calibri"/>
              </a:rPr>
              <a:t>uger</a:t>
            </a:r>
            <a:r>
              <a:rPr lang="es-MX" sz="1550" b="0" i="0" dirty="0">
                <a:solidFill>
                  <a:srgbClr val="17293B"/>
                </a:solidFill>
                <a:latin typeface="Calibri"/>
              </a:rPr>
              <a:t>idas son las que coinciden contra los términos encontrados mas cercanos</a:t>
            </a:r>
            <a:r>
              <a:rPr sz="1550" b="0" i="0" dirty="0">
                <a:solidFill>
                  <a:srgbClr val="17293B"/>
                </a:solidFill>
                <a:latin typeface="Calibri"/>
              </a:rPr>
              <a:t>.</a:t>
            </a:r>
            <a:r>
              <a:rPr lang="es-MX" sz="1550" b="0" i="0" dirty="0">
                <a:solidFill>
                  <a:srgbClr val="17293B"/>
                </a:solidFill>
                <a:latin typeface="Calibri"/>
              </a:rPr>
              <a:t> Indicando el porcentaje de confianza.</a:t>
            </a:r>
            <a:endParaRPr sz="1550" b="0" i="0" dirty="0">
              <a:solidFill>
                <a:srgbClr val="17293B"/>
              </a:solidFill>
              <a:latin typeface="Calibri"/>
            </a:endParaRPr>
          </a:p>
          <a:p>
            <a:pPr algn="l">
              <a:lnSpc>
                <a:spcPct val="116000"/>
              </a:lnSpc>
              <a:spcAft>
                <a:spcPts val="1300"/>
              </a:spcAft>
            </a:pPr>
            <a:r>
              <a:rPr sz="155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lang="es-MX" sz="1550" dirty="0">
                <a:solidFill>
                  <a:srgbClr val="17293B"/>
                </a:solidFill>
                <a:latin typeface="Calibri"/>
              </a:rPr>
              <a:t>En el tablero se especifican los motivos (palabras o términos) que se encontraron para sugerir la fracción arancelaria</a:t>
            </a:r>
            <a:r>
              <a:rPr sz="1550" b="0" i="0" dirty="0">
                <a:solidFill>
                  <a:srgbClr val="17293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783080"/>
            <a:ext cx="4069080" cy="4114800"/>
          </a:xfrm>
          <a:prstGeom prst="roundRect">
            <a:avLst>
              <a:gd name="adj" fmla="val 5000"/>
            </a:avLst>
          </a:prstGeom>
          <a:solidFill>
            <a:srgbClr val="0E2A45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80" y="2057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2A63B"/>
                </a:solidFill>
                <a:latin typeface="Calibri"/>
              </a:rPr>
              <a:t>SALIDA TIPO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80" y="2468880"/>
            <a:ext cx="2331720" cy="457200"/>
          </a:xfrm>
          <a:prstGeom prst="roundRect">
            <a:avLst>
              <a:gd name="adj" fmla="val 35000"/>
            </a:avLst>
          </a:prstGeom>
          <a:solidFill>
            <a:srgbClr val="27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80" y="24688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  AUTO-SUGERIDA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80" y="3154680"/>
            <a:ext cx="3337560" cy="548640"/>
          </a:xfrm>
          <a:prstGeom prst="roundRect">
            <a:avLst>
              <a:gd name="adj" fmla="val 10000"/>
            </a:avLst>
          </a:prstGeom>
          <a:solidFill>
            <a:srgbClr val="16395C"/>
          </a:solidFill>
          <a:ln w="15240">
            <a:solidFill>
              <a:srgbClr val="F2A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315468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  <a:latin typeface="Calibri"/>
              </a:rP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5468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870829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15468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F2A63B"/>
                </a:solidFill>
                <a:latin typeface="Consolas"/>
              </a:rPr>
              <a:t>94%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80" y="3813048"/>
            <a:ext cx="3337560" cy="548640"/>
          </a:xfrm>
          <a:prstGeom prst="roundRect">
            <a:avLst>
              <a:gd name="adj" fmla="val 10000"/>
            </a:avLst>
          </a:prstGeom>
          <a:solidFill>
            <a:srgbClr val="142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3813048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  <a:latin typeface="Calibri"/>
              </a:rP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1304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870892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813048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5FB4C4"/>
                </a:solidFill>
                <a:latin typeface="Consolas"/>
              </a:rPr>
              <a:t>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80" y="4471416"/>
            <a:ext cx="3337560" cy="548640"/>
          </a:xfrm>
          <a:prstGeom prst="roundRect">
            <a:avLst>
              <a:gd name="adj" fmla="val 10000"/>
            </a:avLst>
          </a:prstGeom>
          <a:solidFill>
            <a:srgbClr val="142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4471416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  <a:latin typeface="Calibri"/>
              </a:rPr>
              <a:t>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71416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853650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471416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1" i="0">
                <a:solidFill>
                  <a:srgbClr val="5FB4C4"/>
                </a:solidFill>
                <a:latin typeface="Consolas"/>
              </a:rPr>
              <a:t>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52578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200">
                <a:solidFill>
                  <a:srgbClr val="5FB4C4"/>
                </a:solidFill>
                <a:latin typeface="Calibri"/>
              </a:rPr>
              <a:t>MOTIVOS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5504688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  <a:latin typeface="Calibri"/>
              </a:rPr>
              <a:t>tablero · instrumentos · uso automotriz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E7082"/>
                </a:solidFill>
                <a:latin typeface="Calibri"/>
              </a:rPr>
              <a:t>Detección de Riesgo Aduanero con NLP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F2A63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2A63B"/>
          </a:solidFill>
          <a:ln>
            <a:noFill/>
          </a:ln>
          <a:effectLst>
            <a:outerShdw blurRad="82296" dist="50292" dir="5400000" rotWithShape="0">
              <a:srgbClr val="1B2A3A">
                <a:alpha val="7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5029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20">
                <a:solidFill>
                  <a:srgbClr val="2E8FA3"/>
                </a:solidFill>
                <a:latin typeface="Calibri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74980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2A45"/>
                </a:solidFill>
                <a:latin typeface="Cambria"/>
              </a:rPr>
              <a:t>Demo interactiva (Gradio)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4581144" cy="1221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13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Formulario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web: se escribe la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descripción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de la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mercancía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  <a:p>
            <a:pPr algn="l">
              <a:lnSpc>
                <a:spcPct val="116000"/>
              </a:lnSpc>
              <a:spcAft>
                <a:spcPts val="1300"/>
              </a:spcAft>
            </a:pPr>
            <a:r>
              <a:rPr sz="1500" b="1" i="0" dirty="0">
                <a:solidFill>
                  <a:srgbClr val="2E8FA3"/>
                </a:solidFill>
                <a:latin typeface="Calibri"/>
              </a:rPr>
              <a:t>• 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Devuelve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decisión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, las 3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fracciones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más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probables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probabilidad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 y </a:t>
            </a:r>
            <a:r>
              <a:rPr sz="1500" b="0" i="0" dirty="0" err="1">
                <a:solidFill>
                  <a:srgbClr val="17293B"/>
                </a:solidFill>
                <a:latin typeface="Calibri"/>
              </a:rPr>
              <a:t>motivos</a:t>
            </a:r>
            <a:r>
              <a:rPr sz="1500" b="0" i="0" dirty="0">
                <a:solidFill>
                  <a:srgbClr val="17293B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901952"/>
            <a:ext cx="356616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E7082"/>
                </a:solidFill>
                <a:latin typeface="Calibri"/>
              </a:rPr>
              <a:t>Detección de Riesgo Aduanero con NLP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F2A63B"/>
                </a:solidFill>
                <a:latin typeface="Calibri"/>
              </a:rPr>
              <a:t>12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08331816-D606-6AF4-64B2-5720655A2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36" y="1627632"/>
            <a:ext cx="6797206" cy="31181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54864"/>
            <a:ext cx="12301423" cy="6967728"/>
          </a:xfrm>
          <a:prstGeom prst="rect">
            <a:avLst/>
          </a:prstGeom>
          <a:solidFill>
            <a:srgbClr val="0E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05840"/>
            <a:ext cx="429768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33172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mbria"/>
              </a:rPr>
              <a:t>Gracias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1371600" cy="82296"/>
          </a:xfrm>
          <a:prstGeom prst="roundRect">
            <a:avLst>
              <a:gd name="adj" fmla="val 50000"/>
            </a:avLst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94106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9FB6C9"/>
                </a:solidFill>
                <a:latin typeface="Calibri"/>
              </a:rPr>
              <a:t>Proyecto Final · </a:t>
            </a:r>
            <a:r>
              <a:rPr sz="1400" b="0" i="0" dirty="0" err="1">
                <a:solidFill>
                  <a:srgbClr val="9FB6C9"/>
                </a:solidFill>
                <a:latin typeface="Calibri"/>
              </a:rPr>
              <a:t>Procesamiento</a:t>
            </a:r>
            <a:r>
              <a:rPr sz="1400" b="0" i="0" dirty="0">
                <a:solidFill>
                  <a:srgbClr val="9FB6C9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9FB6C9"/>
                </a:solidFill>
                <a:latin typeface="Calibri"/>
              </a:rPr>
              <a:t>Lenguaje</a:t>
            </a:r>
            <a:r>
              <a:rPr sz="1400" b="0" i="0" dirty="0">
                <a:solidFill>
                  <a:srgbClr val="9FB6C9"/>
                </a:solidFill>
                <a:latin typeface="Calibri"/>
              </a:rPr>
              <a:t> Natural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61104"/>
            <a:ext cx="64008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9FB6C9"/>
                </a:solidFill>
                <a:latin typeface="Calibri"/>
              </a:rPr>
              <a:t>Maestría</a:t>
            </a:r>
            <a:r>
              <a:rPr sz="1300" b="0" i="0" dirty="0">
                <a:solidFill>
                  <a:srgbClr val="9FB6C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FB6C9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9FB6C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FB6C9"/>
                </a:solidFill>
                <a:latin typeface="Calibri"/>
              </a:rPr>
              <a:t>Inteligencia</a:t>
            </a:r>
            <a:r>
              <a:rPr sz="1300" b="0" i="0" dirty="0">
                <a:solidFill>
                  <a:srgbClr val="9FB6C9"/>
                </a:solidFill>
                <a:latin typeface="Calibri"/>
              </a:rPr>
              <a:t> Artificial</a:t>
            </a:r>
            <a:endParaRPr lang="es-MX" sz="1300" b="0" i="0" dirty="0">
              <a:solidFill>
                <a:srgbClr val="9FB6C9"/>
              </a:solidFill>
              <a:latin typeface="Calibri"/>
            </a:endParaRPr>
          </a:p>
          <a:p>
            <a:pPr algn="l"/>
            <a:endParaRPr lang="es-MX" sz="1300" b="0" i="0" dirty="0">
              <a:solidFill>
                <a:srgbClr val="9FB6C9"/>
              </a:solidFill>
              <a:latin typeface="Calibri"/>
            </a:endParaRPr>
          </a:p>
          <a:p>
            <a:r>
              <a:rPr lang="es-MX" sz="1200" b="1" dirty="0">
                <a:solidFill>
                  <a:srgbClr val="FFFFFF"/>
                </a:solidFill>
              </a:rPr>
              <a:t>Presenta: Juan Manuel Alegría Bobadilla</a:t>
            </a:r>
            <a:endParaRPr sz="1300" b="0" i="0" dirty="0">
              <a:solidFill>
                <a:srgbClr val="9FB6C9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846</Words>
  <Application>Microsoft Office PowerPoint</Application>
  <PresentationFormat>Panorámica</PresentationFormat>
  <Paragraphs>174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ALEGRIA</cp:lastModifiedBy>
  <cp:revision>1</cp:revision>
  <dcterms:created xsi:type="dcterms:W3CDTF">2013-01-27T09:14:16Z</dcterms:created>
  <dcterms:modified xsi:type="dcterms:W3CDTF">2026-07-02T23:37:42Z</dcterms:modified>
  <cp:category/>
</cp:coreProperties>
</file>